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1097280"/>
            <a:ext cx="457200" cy="457200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27632"/>
            <a:ext cx="457200" cy="457200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RISKSIM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walkthrough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Steel Viper — ACME Corp, Medical Devices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ransomware scenario across a global manufacturing topology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07592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organizational topology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07592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business units, infrastructure, dependencies, and financial exposure across all sites</a:t>
            </a:r>
            <a:endParaRPr lang="en-US" sz="900" dirty="0"/>
          </a:p>
        </p:txBody>
      </p:sp>
      <p:pic>
        <p:nvPicPr>
          <p:cNvPr id="7" name="Image 0" descr="/mnt/user-data/uploads/Screenshot_2026-03-20_at_6_54_28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1207008" cy="27432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LENS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1848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risk exposure 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18488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attack surface nodes, 3 critical dependencies — Berlin Tech Hub identified as single point of failure</a:t>
            </a:r>
            <a:endParaRPr lang="en-US" sz="900" dirty="0"/>
          </a:p>
        </p:txBody>
      </p:sp>
      <p:pic>
        <p:nvPicPr>
          <p:cNvPr id="7" name="Image 0" descr="/mnt/user-data/uploads/Screenshot_2026-03-20_at_6_54_48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solidFill>
            <a:srgbClr val="D9770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TEST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07592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auto-generated business continuity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07592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generated from topology — RTO: 8h, RPO: 4h, Max Tolerable Downtime: 72h — benchmarked against JLR attack</a:t>
            </a:r>
            <a:endParaRPr lang="en-US" sz="900" dirty="0"/>
          </a:p>
        </p:txBody>
      </p:sp>
      <p:pic>
        <p:nvPicPr>
          <p:cNvPr id="7" name="Image 0" descr="/mnt/user-data/uploads/Screenshot_2026-03-20_at_6_55_08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solidFill>
            <a:srgbClr val="D9770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TEST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07592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1 of 5 — T+0h: Initial breach detected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07592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Tech Hub SIEM flags lateral movement. Infostealer harvests vendor VPN credentials. Testing: Detection and Alerting (72/100)</a:t>
            </a:r>
            <a:endParaRPr lang="en-US" sz="900" dirty="0"/>
          </a:p>
        </p:txBody>
      </p:sp>
      <p:pic>
        <p:nvPicPr>
          <p:cNvPr id="7" name="Image 0" descr="/mnt/user-data/uploads/Screenshot_2026-03-20_at_6_55_19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solidFill>
            <a:srgbClr val="D9770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TEST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07592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2 of 5 — T+2h: Ransomware propagation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07592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encryption begins. MES links showing anomalous traffic toward manufacturing plants. Testing: Containment and Isolation (65/100)</a:t>
            </a:r>
            <a:endParaRPr lang="en-US" sz="900" dirty="0"/>
          </a:p>
        </p:txBody>
      </p:sp>
      <p:pic>
        <p:nvPicPr>
          <p:cNvPr id="7" name="Image 0" descr="/mnt/user-data/uploads/Screenshot_2026-03-20_at_6_55_32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solidFill>
            <a:srgbClr val="D9770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TEST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07592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3 of 5 — T+6h: Production halt and supply chain cascade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07592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manufacturing plants offline. Suppliers sending workers home. Loss with BCP: $11.9M. Testing: Communication Protocol (78/100)</a:t>
            </a:r>
            <a:endParaRPr lang="en-US" sz="900" dirty="0"/>
          </a:p>
        </p:txBody>
      </p:sp>
      <p:pic>
        <p:nvPicPr>
          <p:cNvPr id="7" name="Image 0" descr="/mnt/user-data/uploads/Screenshot_2026-03-20_at_6_57_00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solidFill>
            <a:srgbClr val="D9770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TEST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07592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4 of 5 — T+24h: Recovery decision 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07592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leak data on dark web. Barcelona says 48h to restart on manual. Testing: Recovery and Restoration (58/100)</a:t>
            </a:r>
            <a:endParaRPr lang="en-US" sz="900" dirty="0"/>
          </a:p>
        </p:txBody>
      </p:sp>
      <p:pic>
        <p:nvPicPr>
          <p:cNvPr id="7" name="Image 0" descr="/mnt/user-data/uploads/Screenshot_2026-03-20_at_6_57_08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solidFill>
            <a:srgbClr val="D9770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TEST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07592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5 of 5 — T+72h: Aftermath and financial reckoning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07592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halted across all sites. OT integrity checks reveal deeper compromise. Testing: Financial Impact Management (70/100)</a:t>
            </a:r>
            <a:endParaRPr lang="en-US" sz="900" dirty="0"/>
          </a:p>
        </p:txBody>
      </p:sp>
      <p:pic>
        <p:nvPicPr>
          <p:cNvPr id="7" name="Image 0" descr="/mnt/user-data/uploads/Screenshot_2026-03-20_at_6_57_16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solidFill>
            <a:srgbClr val="05966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assessment — overall score and section gaps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Grade: B — Loss with BCP: $48.9M vs. Loss without: $178.5M — BCP saved $129.6M across 72 simulated hours</a:t>
            </a:r>
            <a:endParaRPr lang="en-US" sz="900" dirty="0"/>
          </a:p>
        </p:txBody>
      </p:sp>
      <p:pic>
        <p:nvPicPr>
          <p:cNvPr id="7" name="Image 0" descr="/mnt/user-data/uploads/Screenshot_2026-03-20_at_6_58_00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solidFill>
            <a:srgbClr val="05966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 from stress test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IT/OT segmentation gap, revise RTO assumptions, add regulatory re-certification, establish ransom decision framework</a:t>
            </a:r>
            <a:endParaRPr lang="en-US" sz="900" dirty="0"/>
          </a:p>
        </p:txBody>
      </p:sp>
      <p:pic>
        <p:nvPicPr>
          <p:cNvPr id="7" name="Image 0" descr="/mnt/user-data/uploads/Screenshot_2026-03-20_at_6_58_15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solidFill>
            <a:srgbClr val="DC262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of 5 — CISO first decision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encryption in progress. Choose: emergency segmentation, surgical containment, failover to Frankfurt, or pay ransom ($2.3M)</a:t>
            </a:r>
            <a:endParaRPr lang="en-US" sz="900" dirty="0"/>
          </a:p>
        </p:txBody>
      </p:sp>
      <p:pic>
        <p:nvPicPr>
          <p:cNvPr id="7" name="Image 0" descr="/mnt/user-data/uploads/Screenshot_2026-03-20_at_7_00_11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solidFill>
            <a:srgbClr val="DC262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of 5 — Cascading manufacturing failure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isolates Berlin but manufacturing halts across 4 continents. Total loss: $4.87M. Barcelona as pivot hub vs. emergency cloud MES</a:t>
            </a:r>
            <a:endParaRPr lang="en-US" sz="900" dirty="0"/>
          </a:p>
        </p:txBody>
      </p:sp>
      <p:pic>
        <p:nvPicPr>
          <p:cNvPr id="7" name="Image 0" descr="/mnt/user-data/uploads/Screenshot_2026-03-20_at_7_01_04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solidFill>
            <a:srgbClr val="DC262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 of 5 — Barcelona at 87% capacity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Makeshift architecture holding by a thread. Shanghai plant demands Berlin restoration. Board wants briefing in 2 hours. Total loss: $8.68M</a:t>
            </a:r>
            <a:endParaRPr lang="en-US" sz="900" dirty="0"/>
          </a:p>
        </p:txBody>
      </p:sp>
      <p:pic>
        <p:nvPicPr>
          <p:cNvPr id="7" name="Image 0" descr="/mnt/user-data/uploads/Screenshot_2026-03-20_at_7_02_00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solidFill>
            <a:srgbClr val="DC262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5 of 5 — Final decision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Finance demands ERP access. Manufacturing stable but fragile. Attacker foothold still in Berlin. Total loss: $13.54M</a:t>
            </a:r>
            <a:endParaRPr lang="en-US" sz="900" dirty="0"/>
          </a:p>
        </p:txBody>
      </p:sp>
      <p:pic>
        <p:nvPicPr>
          <p:cNvPr id="7" name="Image 0" descr="/mnt/user-data/uploads/Screenshot_2026-03-20_at_7_03_17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1751076" cy="27432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AFTER-ACTION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62556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Steel Viper — Debrief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62556" y="4389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loss: $19.4M (10.6% OPEX) over 14 hours, 4 decision rounds. BCP Grade: C. Key gaps in network segmentation, vendor access, recovery time.</a:t>
            </a:r>
            <a:endParaRPr lang="en-US" sz="900" dirty="0"/>
          </a:p>
        </p:txBody>
      </p:sp>
      <p:pic>
        <p:nvPicPr>
          <p:cNvPr id="7" name="Image 0" descr="/mnt/user-data/uploads/Screenshot_2026-03-20_at_7_03_57_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RISKSIM — Simulation Walkthrough</dc:title>
  <dc:subject>PptxGenJS Presentation</dc:subject>
  <dc:creator>PptxGenJS</dc:creator>
  <cp:lastModifiedBy>PptxGenJS</cp:lastModifiedBy>
  <cp:revision>1</cp:revision>
  <dcterms:created xsi:type="dcterms:W3CDTF">2026-03-20T13:56:44Z</dcterms:created>
  <dcterms:modified xsi:type="dcterms:W3CDTF">2026-03-20T13:56:44Z</dcterms:modified>
</cp:coreProperties>
</file>